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0" y="5943600"/>
            <a:ext cx="4572000" cy="182880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52B788"/>
                </a:solidFill>
                <a:latin typeface="Calibri"/>
              </a:rPr>
              <a:t>ROOTS ACADEMY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  <a:latin typeface="Calibri"/>
              </a:rPr>
              <a:t>Data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E8F3EC"/>
                </a:solidFill>
                <a:latin typeface="Calibri"/>
              </a:rPr>
              <a:t>From gut feeling to green checkmarks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Eya Akrimi  ·  Data Engineer @ Dataroots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8F3EC"/>
                </a:solidFill>
                <a:latin typeface="Calibri"/>
              </a:rPr>
              <a:t>Wed 23 Sept 2026  ·  9:00 → 12:00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B4332"/>
                </a:solidFill>
                <a:latin typeface="Calibri"/>
              </a:rPr>
              <a:t>Who am I?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731520" y="1828800"/>
            <a:ext cx="3200400" cy="3200400"/>
          </a:xfrm>
          <a:prstGeom prst="ellipse">
            <a:avLst/>
          </a:prstGeom>
          <a:solidFill>
            <a:srgbClr val="E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6C757D"/>
                </a:solidFill>
                <a:latin typeface="Calibri"/>
              </a:rPr>
              <a:t>📷 photo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4332"/>
                </a:solidFill>
                <a:latin typeface="Calibri"/>
              </a:rPr>
              <a:t>Eya Akrimi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651760"/>
            <a:ext cx="73152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D3E50"/>
                </a:solidFill>
                <a:latin typeface="Calibri"/>
              </a:rPr>
              <a:t>•  Data Engineer @ Dataroots · based in Kessel-Lo (Leuven)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D3E50"/>
                </a:solidFill>
                <a:latin typeface="Calibri"/>
              </a:rPr>
              <a:t>•  Working on data governance &amp; quality at RVA-ONEM — OpenMetadata pilot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D3E50"/>
                </a:solidFill>
                <a:latin typeface="Calibri"/>
              </a:rPr>
              <a:t>•  Previously: [add your background here]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D3E50"/>
                </a:solidFill>
                <a:latin typeface="Calibri"/>
              </a:rPr>
              <a:t>•  Speaks French, English, Arabic — asks the awkward questions in all three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B4332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C757D"/>
                </a:solidFill>
                <a:latin typeface="Calibri"/>
              </a:rPr>
              <a:t>Two 15-minute blocks are non-negotiable: the ☕ break, and the hands-on.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457200" y="1965960"/>
            <a:ext cx="2926080" cy="45720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9:00 – 9:15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1965960"/>
            <a:ext cx="8275320" cy="4572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11880" y="1965960"/>
            <a:ext cx="8092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Intro, agenda, knowledge check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2926080" cy="4572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9:15 – 9:35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2468880"/>
            <a:ext cx="8275320" cy="4572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11880" y="2468880"/>
            <a:ext cx="8092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01 · Why data quality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71800"/>
            <a:ext cx="2926080" cy="4572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29718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9:35 – 10:00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2971800"/>
            <a:ext cx="8275320" cy="4572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11880" y="2971800"/>
            <a:ext cx="8092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02 · What is DQ + the 6 dimensions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74720"/>
            <a:ext cx="2926080" cy="4572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8640" y="34747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10:00 – 10:15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9000" y="3474720"/>
            <a:ext cx="8275320" cy="4572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611880" y="3474720"/>
            <a:ext cx="8092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03 · Profiling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77639"/>
            <a:ext cx="2926080" cy="4572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8640" y="397763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10:15 – 10:30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9000" y="3977639"/>
            <a:ext cx="8275320" cy="4572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611880" y="3977639"/>
            <a:ext cx="8092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☕  Break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480560"/>
            <a:ext cx="2926080" cy="4572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48640" y="4480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10:30 – 10:50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9000" y="4480560"/>
            <a:ext cx="8275320" cy="4572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611880" y="4480560"/>
            <a:ext cx="8092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04 · Where DQ lives (shift-left)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983480"/>
            <a:ext cx="2926080" cy="4572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48640" y="4983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10:50 – 11:00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29000" y="4983480"/>
            <a:ext cx="8275320" cy="4572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611880" y="4983480"/>
            <a:ext cx="8092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05 · Tool landscape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486400"/>
            <a:ext cx="2926080" cy="45720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48640" y="54864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11:00 – 11:50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29000" y="5486400"/>
            <a:ext cx="8275320" cy="4572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611880" y="5486400"/>
            <a:ext cx="8092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06 · Hands-on with Soda 🛠️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989320"/>
            <a:ext cx="2926080" cy="45720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48640" y="59893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11:50 – 12:00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29000" y="5989320"/>
            <a:ext cx="8275320" cy="4572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611880" y="5989320"/>
            <a:ext cx="8092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07 · Wrap &amp; Q&amp;A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B4332"/>
                </a:solidFill>
                <a:latin typeface="Calibri"/>
              </a:rPr>
              <a:t>Knowledge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D3E50"/>
                </a:solidFill>
                <a:latin typeface="Calibri"/>
              </a:rPr>
              <a:t>How many of these have you heard of?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3736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457200" y="210312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17627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data quality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2331720" y="210312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377439" y="217627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data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10312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251959" y="217627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SLA / SLO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59" y="210312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26479" y="217627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shift-left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210312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01000" y="217627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great expectations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29800" y="210312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875520" y="217627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Soda 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9747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920" y="277063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dbt tests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69747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377439" y="277063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freshness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0" y="269747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251959" y="277063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row-count anomaly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59" y="269747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26479" y="277063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schema drift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69747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001000" y="277063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profiling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269747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875520" y="277063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expectation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29183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02920" y="3364991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assertion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31720" y="329183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377439" y="3364991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6 dimensions of DQ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06240" y="329183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251959" y="3364991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data observability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59" y="329183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126479" y="3364991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Monte Carlo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79" y="329183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001000" y="3364991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Elementary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29800" y="329183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875520" y="3364991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lineage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388620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02920" y="395935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producer / consumer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331720" y="388620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2377439" y="395935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circuit breaker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06240" y="388620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251959" y="395935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unit test for data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59" y="388620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26479" y="395935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OpenMetadata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55279" y="388620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001000" y="395935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data catalog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829800" y="388620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9875520" y="395935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data governance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48056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02920" y="455371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MDM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448056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2377439" y="455371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data steward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06240" y="448056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4251959" y="455371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reconciliation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59" y="448056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126479" y="455371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referential integrity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B4332"/>
                </a:solidFill>
                <a:latin typeface="Calibri"/>
              </a:rPr>
              <a:t>Knowledge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D3E50"/>
                </a:solidFill>
                <a:latin typeface="Calibri"/>
              </a:rPr>
              <a:t>How many can you comfortably explain in your own words?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3736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457200" y="210312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17627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data quality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2331720" y="210312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377439" y="217627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data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10312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251959" y="217627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SLA / SLO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59" y="210312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26479" y="217627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shift-left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210312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01000" y="217627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great expectations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29800" y="210312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875520" y="217627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Soda 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9747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920" y="277063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dbt tests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69747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377439" y="277063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freshness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0" y="269747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251959" y="277063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row-count anomaly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59" y="269747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26479" y="277063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schema drift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69747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001000" y="277063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profiling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269747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875520" y="277063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expectation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29183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02920" y="3364991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assertion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31720" y="329183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377439" y="3364991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6 dimensions of DQ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06240" y="329183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251959" y="3364991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data observability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59" y="329183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126479" y="3364991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Monte Carlo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79" y="329183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001000" y="3364991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Elementary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29800" y="3291839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875520" y="3364991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lineage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388620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02920" y="395935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producer / consumer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331720" y="388620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2377439" y="395935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circuit breaker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06240" y="388620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251959" y="395935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unit test for data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59" y="388620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26479" y="395935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OpenMetadata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55279" y="388620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001000" y="395935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data catalog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829800" y="388620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9875520" y="395935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data governance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48056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02920" y="455371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MDM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448056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2377439" y="455371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data steward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06240" y="448056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4251959" y="455371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reconciliation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59" y="4480560"/>
            <a:ext cx="1828800" cy="502920"/>
          </a:xfrm>
          <a:prstGeom prst="rect">
            <a:avLst/>
          </a:prstGeom>
          <a:solidFill>
            <a:srgbClr val="F8F9FA"/>
          </a:solidFill>
          <a:ln w="9525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126479" y="455371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D3E50"/>
                </a:solidFill>
                <a:latin typeface="Calibri"/>
              </a:rPr>
              <a:t>referential integrity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4332"/>
                </a:solidFill>
                <a:latin typeface="Calibri"/>
              </a:rPr>
              <a:t>By noon, all of these should be in column 2.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017520"/>
            <a:ext cx="137160" cy="82296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28803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52B788"/>
                </a:solidFill>
                <a:latin typeface="Calibri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7472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Why data quality?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E8F3EC"/>
                </a:solidFill>
                <a:latin typeface="Calibri"/>
              </a:rPr>
              <a:t>Because pipelines that ship garbage on time are still garbage.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B4332"/>
                </a:solidFill>
                <a:latin typeface="Calibri"/>
              </a:rPr>
              <a:t>The cost of bad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D3E50"/>
                </a:solidFill>
                <a:latin typeface="Calibri"/>
              </a:rPr>
              <a:t>Fixing bad data later costs ~10× more than getting it right at the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1B4332"/>
                </a:solidFill>
                <a:latin typeface="Calibri"/>
              </a:rPr>
              <a:t>Clean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3566160"/>
            <a:ext cx="914400" cy="91440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D3E50"/>
                </a:solidFill>
                <a:latin typeface="Calibri"/>
              </a:rPr>
              <a:t>1 unit of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9260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E63946"/>
                </a:solidFill>
                <a:latin typeface="Calibri"/>
              </a:rPr>
              <a:t>Bad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3566160"/>
            <a:ext cx="594360" cy="59436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543800" y="3566160"/>
            <a:ext cx="594360" cy="59436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229600" y="3566160"/>
            <a:ext cx="594360" cy="59436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915400" y="3566160"/>
            <a:ext cx="594360" cy="59436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9601200" y="3566160"/>
            <a:ext cx="594360" cy="59436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858000" y="4251960"/>
            <a:ext cx="594360" cy="59436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543800" y="4251960"/>
            <a:ext cx="594360" cy="59436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229600" y="4251960"/>
            <a:ext cx="594360" cy="59436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915400" y="4251960"/>
            <a:ext cx="594360" cy="59436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9601200" y="4251960"/>
            <a:ext cx="594360" cy="59436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858000" y="5120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D3E50"/>
                </a:solidFill>
                <a:latin typeface="Calibri"/>
              </a:rPr>
              <a:t>10 units of 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Source: 1×/10× rule (IBM data quality analysis)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4332"/>
                </a:solidFill>
                <a:latin typeface="Calibri"/>
              </a:rPr>
              <a:t>Five reasons the business cares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2194560" cy="32004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2194560" cy="36576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0">
                <a:solidFill>
                  <a:srgbClr val="2D3E50"/>
                </a:solidFill>
                <a:latin typeface="Calibri"/>
              </a:rPr>
              <a:t>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2011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4332"/>
                </a:solidFill>
                <a:latin typeface="Calibri"/>
              </a:rPr>
              <a:t>Informed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389120"/>
            <a:ext cx="201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D3E50"/>
                </a:solidFill>
                <a:latin typeface="Calibri"/>
              </a:rPr>
              <a:t>Dashboards you can actually trust.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2286000"/>
            <a:ext cx="2194560" cy="32004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2743200" y="2286000"/>
            <a:ext cx="2194560" cy="36576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743200" y="292608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0">
                <a:solidFill>
                  <a:srgbClr val="2D3E50"/>
                </a:solidFill>
                <a:latin typeface="Calibri"/>
              </a:rPr>
              <a:t>⚙️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749039"/>
            <a:ext cx="2011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4332"/>
                </a:solidFill>
                <a:latin typeface="Calibri"/>
              </a:rPr>
              <a:t>Operational efficiency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4389120"/>
            <a:ext cx="201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D3E50"/>
                </a:solidFill>
                <a:latin typeface="Calibri"/>
              </a:rPr>
              <a:t>Less firefighting, more shipping.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2286000"/>
            <a:ext cx="2194560" cy="32004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5029200" y="2286000"/>
            <a:ext cx="2194560" cy="36576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29200" y="292608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0">
                <a:solidFill>
                  <a:srgbClr val="2D3E50"/>
                </a:solidFill>
                <a:latin typeface="Calibri"/>
              </a:rPr>
              <a:t>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749039"/>
            <a:ext cx="2011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4332"/>
                </a:solidFill>
                <a:latin typeface="Calibri"/>
              </a:rPr>
              <a:t>Customer trust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201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D3E50"/>
                </a:solidFill>
                <a:latin typeface="Calibri"/>
              </a:rPr>
              <a:t>One bad refund is worth 100 emails saying sorry.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2286000"/>
            <a:ext cx="2194560" cy="32004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315200" y="2286000"/>
            <a:ext cx="2194560" cy="36576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315200" y="292608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0">
                <a:solidFill>
                  <a:srgbClr val="2D3E50"/>
                </a:solidFill>
                <a:latin typeface="Calibri"/>
              </a:rPr>
              <a:t>🧑‍⚖️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3749039"/>
            <a:ext cx="2011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4332"/>
                </a:solidFill>
                <a:latin typeface="Calibri"/>
              </a:rPr>
              <a:t>Compliance &amp;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4389120"/>
            <a:ext cx="201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D3E50"/>
                </a:solidFill>
                <a:latin typeface="Calibri"/>
              </a:rPr>
              <a:t>GDPR, SOX, DORA don't care how busy your quarter was.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0" y="2286000"/>
            <a:ext cx="2194560" cy="32004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601200" y="2286000"/>
            <a:ext cx="2194560" cy="36576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01200" y="292608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0">
                <a:solidFill>
                  <a:srgbClr val="2D3E50"/>
                </a:solidFill>
                <a:latin typeface="Calibri"/>
              </a:rPr>
              <a:t>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3749039"/>
            <a:ext cx="2011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4332"/>
                </a:solidFill>
                <a:latin typeface="Calibri"/>
              </a:rPr>
              <a:t>Competitive edge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4389120"/>
            <a:ext cx="201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D3E50"/>
                </a:solidFill>
                <a:latin typeface="Calibri"/>
              </a:rPr>
              <a:t>The company that trusts its data moves faster.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4332"/>
                </a:solidFill>
                <a:latin typeface="Calibri"/>
              </a:rPr>
              <a:t>Three real stories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731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>
                <a:solidFill>
                  <a:srgbClr val="2D3E50"/>
                </a:solidFill>
                <a:latin typeface="Calibri"/>
              </a:rPr>
              <a:t>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9659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4332"/>
                </a:solidFill>
                <a:latin typeface="Calibri"/>
              </a:rPr>
              <a:t>Unity Software ·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3774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D3E50"/>
                </a:solidFill>
                <a:latin typeface="Calibri"/>
              </a:rPr>
              <a:t>Ingested bad customer data from one partner. Ad targeting model 
went sideways. Stock dropped ~30%, ~$110M revenue hit. 
The fix: better DQ on ingestion. The cost of not having it: 
your product team's next 6 months.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337560"/>
            <a:ext cx="11247120" cy="13716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731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>
                <a:solidFill>
                  <a:srgbClr val="2D3E50"/>
                </a:solidFill>
                <a:latin typeface="Calibri"/>
              </a:rPr>
              <a:t>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474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4332"/>
                </a:solidFill>
                <a:latin typeface="Calibri"/>
              </a:rPr>
              <a:t>Public Health England ·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88620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D3E50"/>
                </a:solidFill>
                <a:latin typeface="Calibri"/>
              </a:rPr>
              <a:t>COVID case counts truncated to 65,536 rows because someone 
used the wrong Excel format. ~16,000 cases went unreported for 
a week. A row-count check would have caught it in seconds.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247120" cy="13716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074920"/>
            <a:ext cx="731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>
                <a:solidFill>
                  <a:srgbClr val="2D3E50"/>
                </a:solidFill>
                <a:latin typeface="Calibri"/>
              </a:rPr>
              <a:t>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983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4332"/>
                </a:solidFill>
                <a:latin typeface="Calibri"/>
              </a:rPr>
              <a:t>Amazon hiring AI · 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394959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D3E50"/>
                </a:solidFill>
                <a:latin typeface="Calibri"/>
              </a:rPr>
              <a:t>Model trained on biased historical resumes learned to 
downrank women. Scrapped after 4 years of work. 
The data quality problem was in the label, not the pipeline.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017520"/>
            <a:ext cx="137160" cy="82296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28803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52B788"/>
                </a:solidFill>
                <a:latin typeface="Calibri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7472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What is data quality?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E8F3EC"/>
                </a:solidFill>
                <a:latin typeface="Calibri"/>
              </a:rPr>
              <a:t>A crisp definition and six dimensions you'll use every week.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4332"/>
                </a:solidFill>
                <a:latin typeface="Calibri"/>
              </a:rPr>
              <a:t>A working definition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371600" y="2286000"/>
            <a:ext cx="9418320" cy="2560320"/>
          </a:xfrm>
          <a:prstGeom prst="rect">
            <a:avLst/>
          </a:prstGeom>
          <a:solidFill>
            <a:srgbClr val="E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828800" y="2651760"/>
            <a:ext cx="85039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1B4332"/>
                </a:solidFill>
                <a:latin typeface="Calibri"/>
              </a:rPr>
              <a:t>Data quality is the health of data
at every stage in its life cycle.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206240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2D3E50"/>
                </a:solidFill>
                <a:latin typeface="Calibri"/>
              </a:rPr>
              <a:t>→ measurable, actionable, and everyone's problem.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D3E50"/>
                </a:solidFill>
                <a:latin typeface="Calibri"/>
              </a:rPr>
              <a:t>Three things it is NOT: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a one-time cleanup project    · a metric on a dashboard someone stares at once a month    · the analytics team's job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4332"/>
                </a:solidFill>
                <a:latin typeface="Calibri"/>
              </a:rPr>
              <a:t>The six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6C757D"/>
                </a:solidFill>
                <a:latin typeface="Calibri"/>
              </a:rPr>
              <a:t>Vocabulary you'll hear in every DQ conversation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457200" y="1965960"/>
            <a:ext cx="3657600" cy="141732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" y="1965960"/>
            <a:ext cx="457200" cy="14173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210312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574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B4332"/>
                </a:solidFill>
                <a:latin typeface="Calibri"/>
              </a:rPr>
              <a:t>Completeness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5146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D3E50"/>
                </a:solidFill>
                <a:latin typeface="Calibri"/>
              </a:rPr>
              <a:t>Is anything missing?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9260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2B788"/>
                </a:solidFill>
                <a:latin typeface="Consolas"/>
              </a:rPr>
              <a:t>missing_count =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965960"/>
            <a:ext cx="3657600" cy="141732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251960" y="1965960"/>
            <a:ext cx="457200" cy="14173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297680" y="210312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574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B4332"/>
                </a:solidFill>
                <a:latin typeface="Calibri"/>
              </a:rPr>
              <a:t>Uniqueness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5146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D3E50"/>
                </a:solidFill>
                <a:latin typeface="Calibri"/>
              </a:rPr>
              <a:t>Any accidental duplicates?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9260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2B788"/>
                </a:solidFill>
                <a:latin typeface="Consolas"/>
              </a:rPr>
              <a:t>duplicate_count = 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1965960"/>
            <a:ext cx="3657600" cy="141732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46720" y="1965960"/>
            <a:ext cx="457200" cy="14173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92440" y="210312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20574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B4332"/>
                </a:solidFill>
                <a:latin typeface="Calibri"/>
              </a:rPr>
              <a:t>Validity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5146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D3E50"/>
                </a:solidFill>
                <a:latin typeface="Calibri"/>
              </a:rPr>
              <a:t>Does it fit the rules?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9260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2B788"/>
                </a:solidFill>
                <a:latin typeface="Consolas"/>
              </a:rPr>
              <a:t>valid values / range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566160"/>
            <a:ext cx="3657600" cy="141732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457200" y="3566160"/>
            <a:ext cx="457200" cy="14173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2920" y="370332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36576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B4332"/>
                </a:solidFill>
                <a:latin typeface="Calibri"/>
              </a:rPr>
              <a:t>Consistency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1148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D3E50"/>
                </a:solidFill>
                <a:latin typeface="Calibri"/>
              </a:rPr>
              <a:t>Same fact, same shape everywhere?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5262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2B788"/>
                </a:solidFill>
                <a:latin typeface="Consolas"/>
              </a:rPr>
              <a:t>BE ≠ be ≠ Belgium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60" y="3566160"/>
            <a:ext cx="3657600" cy="141732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4251960" y="3566160"/>
            <a:ext cx="457200" cy="14173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297680" y="370332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36576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B4332"/>
                </a:solidFill>
                <a:latin typeface="Calibri"/>
              </a:rPr>
              <a:t>Accuracy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41148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D3E50"/>
                </a:solidFill>
                <a:latin typeface="Calibri"/>
              </a:rPr>
              <a:t>Does it match reality?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5262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2B788"/>
                </a:solidFill>
                <a:latin typeface="Consolas"/>
              </a:rPr>
              <a:t>hardest to test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20" y="3566160"/>
            <a:ext cx="3657600" cy="141732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046720" y="3566160"/>
            <a:ext cx="457200" cy="14173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092440" y="370332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36576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B4332"/>
                </a:solidFill>
                <a:latin typeface="Calibri"/>
              </a:rPr>
              <a:t>Timeliness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41148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D3E50"/>
                </a:solidFill>
                <a:latin typeface="Calibri"/>
              </a:rPr>
              <a:t>Is it fresh enough?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45262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2B788"/>
                </a:solidFill>
                <a:latin typeface="Consolas"/>
              </a:rPr>
              <a:t>freshness &lt; 1d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2B788"/>
                </a:solidFill>
                <a:latin typeface="Calibri"/>
              </a:rPr>
              <a:t>02 · What is 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B4332"/>
                </a:solidFill>
                <a:latin typeface="Calibri"/>
              </a:rPr>
              <a:t>Completeness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64008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5400" b="0">
                <a:solidFill>
                  <a:srgbClr val="52B788"/>
                </a:solidFill>
                <a:latin typeface="Calibri"/>
              </a:rPr>
              <a:t>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D3E50"/>
                </a:solidFill>
                <a:latin typeface="Calibri"/>
              </a:rPr>
              <a:t>Is anything missing?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Nulls in a NOT NULL column. Empty strings. Missing rows for the last hour.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6C757D"/>
                </a:solidFill>
                <a:latin typeface="Calibri"/>
              </a:rPr>
              <a:t>One way to check it: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977639"/>
            <a:ext cx="11247120" cy="10972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5E8C4"/>
                </a:solidFill>
                <a:latin typeface="Consolas"/>
              </a:rPr>
              <a:t>SELECT COUNT(*) FROM orders WHERE region IS NULL;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394960"/>
            <a:ext cx="11247120" cy="822960"/>
          </a:xfrm>
          <a:prstGeom prst="rect">
            <a:avLst/>
          </a:prstGeom>
          <a:solidFill>
            <a:srgbClr val="E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1B4332"/>
                </a:solidFill>
                <a:latin typeface="Calibri"/>
              </a:rPr>
              <a:t>💡  Not always zero — sometimes 5% nulls is fine. Set a threshold, don't wing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2B788"/>
                </a:solidFill>
                <a:latin typeface="Calibri"/>
              </a:rPr>
              <a:t>02 · What is 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B4332"/>
                </a:solidFill>
                <a:latin typeface="Calibri"/>
              </a:rPr>
              <a:t>Uniqueness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64008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5400" b="0">
                <a:solidFill>
                  <a:srgbClr val="52B788"/>
                </a:solidFill>
                <a:latin typeface="Calibri"/>
              </a:rPr>
              <a:t>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D3E50"/>
                </a:solidFill>
                <a:latin typeface="Calibri"/>
              </a:rPr>
              <a:t>Any accidental duplicates?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A primary key that isn't. A CDC job that double-inserted this morning.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6C757D"/>
                </a:solidFill>
                <a:latin typeface="Calibri"/>
              </a:rPr>
              <a:t>One way to check it: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977639"/>
            <a:ext cx="11247120" cy="10972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5E8C4"/>
                </a:solidFill>
                <a:latin typeface="Consolas"/>
              </a:rPr>
              <a:t>SELECT order_id, COUNT(*) FROM orders GROUP BY 1 HAVING COUNT(*) &gt; 1;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394960"/>
            <a:ext cx="11247120" cy="822960"/>
          </a:xfrm>
          <a:prstGeom prst="rect">
            <a:avLst/>
          </a:prstGeom>
          <a:solidFill>
            <a:srgbClr val="E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1B4332"/>
                </a:solidFill>
                <a:latin typeface="Calibri"/>
              </a:rPr>
              <a:t>💡  Check on natural keys AND composite keys. `(customer_id, day)` catches things `id` misses.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2B788"/>
                </a:solidFill>
                <a:latin typeface="Calibri"/>
              </a:rPr>
              <a:t>02 · What is 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B4332"/>
                </a:solidFill>
                <a:latin typeface="Calibri"/>
              </a:rPr>
              <a:t>Validity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64008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5400" b="0">
                <a:solidFill>
                  <a:srgbClr val="52B788"/>
                </a:solidFill>
                <a:latin typeface="Calibri"/>
              </a:rPr>
              <a:t>✅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D3E50"/>
                </a:solidFill>
                <a:latin typeface="Calibri"/>
              </a:rPr>
              <a:t>Does it fit the rules?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Negative prices. Ages of 250. Postal codes that aren't. Timestamps in 2099.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6C757D"/>
                </a:solidFill>
                <a:latin typeface="Calibri"/>
              </a:rPr>
              <a:t>One way to check it: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977639"/>
            <a:ext cx="11247120" cy="10972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5E8C4"/>
                </a:solidFill>
                <a:latin typeface="Consolas"/>
              </a:rPr>
              <a:t>SELECT COUNT(*) FROM orders WHERE price_eur &lt; 0;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394960"/>
            <a:ext cx="11247120" cy="822960"/>
          </a:xfrm>
          <a:prstGeom prst="rect">
            <a:avLst/>
          </a:prstGeom>
          <a:solidFill>
            <a:srgbClr val="E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1B4332"/>
                </a:solidFill>
                <a:latin typeface="Calibri"/>
              </a:rPr>
              <a:t>💡  Every column has an implicit contract. Write the contract down as a check.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2B788"/>
                </a:solidFill>
                <a:latin typeface="Calibri"/>
              </a:rPr>
              <a:t>02 · What is 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B4332"/>
                </a:solidFill>
                <a:latin typeface="Calibri"/>
              </a:rPr>
              <a:t>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64008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5400" b="0">
                <a:solidFill>
                  <a:srgbClr val="52B788"/>
                </a:solidFill>
                <a:latin typeface="Calibri"/>
              </a:rPr>
              <a:t>🔗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D3E50"/>
                </a:solidFill>
                <a:latin typeface="Calibri"/>
              </a:rPr>
              <a:t>Same fact, same shape everywhere?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'BE' vs 'be' vs 'Belgium'. USD in one table, EUR in another. Different dedup logic per pipeline.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6C757D"/>
                </a:solidFill>
                <a:latin typeface="Calibri"/>
              </a:rPr>
              <a:t>One way to check it: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977639"/>
            <a:ext cx="11247120" cy="10972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5E8C4"/>
                </a:solidFill>
                <a:latin typeface="Consolas"/>
              </a:rPr>
              <a:t>SELECT DISTINCT region FROM orders;    -- eyeball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394960"/>
            <a:ext cx="11247120" cy="822960"/>
          </a:xfrm>
          <a:prstGeom prst="rect">
            <a:avLst/>
          </a:prstGeom>
          <a:solidFill>
            <a:srgbClr val="E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1B4332"/>
                </a:solidFill>
                <a:latin typeface="Calibri"/>
              </a:rPr>
              <a:t>💡  This is where data contracts earn their keep — one canonical shape upstream.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2B788"/>
                </a:solidFill>
                <a:latin typeface="Calibri"/>
              </a:rPr>
              <a:t>02 · What is 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B4332"/>
                </a:solidFill>
                <a:latin typeface="Calibri"/>
              </a:rPr>
              <a:t>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64008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5400" b="0">
                <a:solidFill>
                  <a:srgbClr val="52B788"/>
                </a:solidFill>
                <a:latin typeface="Calibri"/>
              </a:rPr>
              <a:t>🎪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D3E50"/>
                </a:solidFill>
                <a:latin typeface="Calibri"/>
              </a:rPr>
              <a:t>Does it match reality?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Your DB says 42 units in stock. Warehouse says 39. Which is right? Usually: neither, without going to look.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6C757D"/>
                </a:solidFill>
                <a:latin typeface="Calibri"/>
              </a:rPr>
              <a:t>One way to check it: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977639"/>
            <a:ext cx="11247120" cy="10972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5E8C4"/>
                </a:solidFill>
                <a:latin typeface="Consolas"/>
              </a:rPr>
              <a:t>-- often needs an external source of truth to 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394960"/>
            <a:ext cx="11247120" cy="822960"/>
          </a:xfrm>
          <a:prstGeom prst="rect">
            <a:avLst/>
          </a:prstGeom>
          <a:solidFill>
            <a:srgbClr val="E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1B4332"/>
                </a:solidFill>
                <a:latin typeface="Calibri"/>
              </a:rPr>
              <a:t>💡  The hardest dimension. Often only detectable by reconciliation with another system.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2B788"/>
                </a:solidFill>
                <a:latin typeface="Calibri"/>
              </a:rPr>
              <a:t>02 · What is 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B4332"/>
                </a:solidFill>
                <a:latin typeface="Calibri"/>
              </a:rPr>
              <a:t>Timeliness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64008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5400" b="0">
                <a:solidFill>
                  <a:srgbClr val="52B788"/>
                </a:solidFill>
                <a:latin typeface="Calibri"/>
              </a:rPr>
              <a:t>⏰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D3E50"/>
                </a:solidFill>
                <a:latin typeface="Calibri"/>
              </a:rPr>
              <a:t>Is it fresh enough?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Your dashboard says 'last updated' 3 days ago. Nobody noticed. The pipeline died on Friday.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6C757D"/>
                </a:solidFill>
                <a:latin typeface="Calibri"/>
              </a:rPr>
              <a:t>One way to check it: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977639"/>
            <a:ext cx="11247120" cy="10972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5E8C4"/>
                </a:solidFill>
                <a:latin typeface="Consolas"/>
              </a:rPr>
              <a:t>SELECT MAX(sold_at) FROM orders;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394960"/>
            <a:ext cx="11247120" cy="822960"/>
          </a:xfrm>
          <a:prstGeom prst="rect">
            <a:avLst/>
          </a:prstGeom>
          <a:solidFill>
            <a:srgbClr val="E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1B4332"/>
                </a:solidFill>
                <a:latin typeface="Calibri"/>
              </a:rPr>
              <a:t>💡  Freshness is the check that catches 'the pipeline is silently broken'. Always have 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017520"/>
            <a:ext cx="137160" cy="82296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28803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52B788"/>
                </a:solidFill>
                <a:latin typeface="Calibri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7472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Profiling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E8F3EC"/>
                </a:solidFill>
                <a:latin typeface="Calibri"/>
              </a:rPr>
              <a:t>How do you know what checks to write? Start by looking.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4332"/>
                </a:solidFill>
                <a:latin typeface="Calibri"/>
              </a:rPr>
              <a:t>Manual vs automated profiling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5486400" cy="41148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>
                <a:solidFill>
                  <a:srgbClr val="2D3E50"/>
                </a:solidFill>
                <a:latin typeface="Calibri"/>
              </a:rPr>
              <a:t>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B4332"/>
                </a:solidFill>
                <a:latin typeface="Calibri"/>
              </a:rPr>
              <a:t>Manual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You + SQL + curiosity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50292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SELECT * FROM t LIMIT 100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SELECT COUNT(*), COUNT(DISTINCT id) FROM 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Talk to whoever produces the data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Fastest for a new table you've never seen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828800"/>
            <a:ext cx="5486400" cy="41148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>
                <a:solidFill>
                  <a:srgbClr val="2D3E50"/>
                </a:solidFill>
                <a:latin typeface="Calibri"/>
              </a:rPr>
              <a:t>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65176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B4332"/>
                </a:solidFill>
                <a:latin typeface="Calibri"/>
              </a:rPr>
              <a:t>Automated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200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A tool profiles everything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840480"/>
            <a:ext cx="50292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ydata-profiling (Python)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great_expectations profile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dbt-profiler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Best for large or fast-changing schemas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B4332"/>
                </a:solidFill>
                <a:latin typeface="Calibri"/>
              </a:rPr>
              <a:t>One line of code → a full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1737360"/>
            <a:ext cx="11247120" cy="12801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5E8C4"/>
                </a:solidFill>
                <a:latin typeface="Consolas"/>
              </a:rPr>
              <a:t>from ydata_profiling import ProfileReport
ProfileReport(df, title='Avocado orders — profile').to_notebook_iframe()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D3E50"/>
                </a:solidFill>
                <a:latin typeface="Calibri"/>
              </a:rPr>
              <a:t>What you get for free: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D3E50"/>
                </a:solidFill>
                <a:latin typeface="Calibri"/>
              </a:rPr>
              <a:t>•  Per-column: type, missing %, unique %, min/max/mean/median, distribution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D3E50"/>
                </a:solidFill>
                <a:latin typeface="Calibri"/>
              </a:rPr>
              <a:t>•  Duplicates, constant columns, highly correlated pairs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D3E50"/>
                </a:solidFill>
                <a:latin typeface="Calibri"/>
              </a:rPr>
              <a:t>•  Warnings ranked by severity — 'skewed', 'high cardinality', 'imbalance'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D3E50"/>
                </a:solidFill>
                <a:latin typeface="Calibri"/>
              </a:rPr>
              <a:t>•  An HTML report you can share with the person who produces the 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D3E50"/>
                </a:solidFill>
                <a:latin typeface="Calibri"/>
              </a:rPr>
              <a:t>⚠  Profile a sample of very large tables — a full profile of 10B rows will eat your laptop.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B4332"/>
                </a:solidFill>
                <a:latin typeface="Calibri"/>
              </a:rPr>
              <a:t>Can an LLM write your checks?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D3E50"/>
                </a:solidFill>
                <a:latin typeface="Calibri"/>
              </a:rPr>
              <a:t>Short answer: yes, for the first pass. No, for the last mile.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560320"/>
            <a:ext cx="5486400" cy="347472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" y="2560320"/>
            <a:ext cx="5486400" cy="45720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What LLMs are good 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546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6C757D"/>
                </a:solidFill>
                <a:latin typeface="Calibri"/>
              </a:rPr>
              <a:t>The 80% you'd write anyway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512064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D3E50"/>
                </a:solidFill>
                <a:latin typeface="Calibri"/>
              </a:rPr>
              <a:t>•  Suggesting checks from a profile output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D3E50"/>
                </a:solidFill>
                <a:latin typeface="Calibri"/>
              </a:rPr>
              <a:t>•  Translating a data contract into SodaCL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D3E50"/>
                </a:solidFill>
                <a:latin typeface="Calibri"/>
              </a:rPr>
              <a:t>•  Writing the SQL for a business rule you dictate in English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D3E50"/>
                </a:solidFill>
                <a:latin typeface="Calibri"/>
              </a:rPr>
              <a:t>•  Explaining a failing check in plain language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560320"/>
            <a:ext cx="5486400" cy="347472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17920" y="2560320"/>
            <a:ext cx="5486400" cy="45720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0" y="26060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What LLMs are bad 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1546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6C757D"/>
                </a:solidFill>
                <a:latin typeface="Calibri"/>
              </a:rPr>
              <a:t>The 20% that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611880"/>
            <a:ext cx="512064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D3E50"/>
                </a:solidFill>
                <a:latin typeface="Calibri"/>
              </a:rPr>
              <a:t>•  Knowing which columns actually matter to the business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D3E50"/>
                </a:solidFill>
                <a:latin typeface="Calibri"/>
              </a:rPr>
              <a:t>•  Setting thresholds ('is 5% nulls OK here?')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D3E50"/>
                </a:solidFill>
                <a:latin typeface="Calibri"/>
              </a:rPr>
              <a:t>•  Deciding what to alert vs. what to log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D3E50"/>
                </a:solidFill>
                <a:latin typeface="Calibri"/>
              </a:rPr>
              <a:t>•  Understanding your team's on-call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12471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0" b="0">
                <a:solidFill>
                  <a:srgbClr val="52B788"/>
                </a:solidFill>
                <a:latin typeface="Calibri"/>
              </a:rPr>
              <a:t>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15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E8F3EC"/>
                </a:solidFill>
                <a:latin typeface="Calibri"/>
              </a:rPr>
              <a:t>Back at 10:30 sharp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017520"/>
            <a:ext cx="137160" cy="82296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28803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52B788"/>
                </a:solidFill>
                <a:latin typeface="Calibri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7472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Where does DQ live?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E8F3EC"/>
                </a:solidFill>
                <a:latin typeface="Calibri"/>
              </a:rPr>
              <a:t>The earlier you catch it, the cheaper it is to fix.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4332"/>
                </a:solidFill>
                <a:latin typeface="Calibri"/>
              </a:rPr>
              <a:t>Shift left: catch it early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The same bug caught at stage N is N× more expensive at stage N+1.</a:t>
            </a:r>
          </a:p>
        </p:txBody>
      </p:sp>
      <p:sp>
        <p:nvSpPr>
          <p:cNvPr id="5" name="Pentagon 4"/>
          <p:cNvSpPr/>
          <p:nvPr/>
        </p:nvSpPr>
        <p:spPr>
          <a:xfrm>
            <a:off x="457200" y="2468880"/>
            <a:ext cx="2651760" cy="2194560"/>
          </a:xfrm>
          <a:prstGeom prst="homePlat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Source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producer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cost: 1×</a:t>
            </a:r>
          </a:p>
        </p:txBody>
      </p:sp>
      <p:sp>
        <p:nvSpPr>
          <p:cNvPr id="9" name="Pentagon 8"/>
          <p:cNvSpPr/>
          <p:nvPr/>
        </p:nvSpPr>
        <p:spPr>
          <a:xfrm>
            <a:off x="3246120" y="2468880"/>
            <a:ext cx="2651760" cy="2194560"/>
          </a:xfrm>
          <a:prstGeom prst="homePlate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337560" y="26060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320040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schema + row 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39319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cost: 3×</a:t>
            </a:r>
          </a:p>
        </p:txBody>
      </p:sp>
      <p:sp>
        <p:nvSpPr>
          <p:cNvPr id="13" name="Pentagon 12"/>
          <p:cNvSpPr/>
          <p:nvPr/>
        </p:nvSpPr>
        <p:spPr>
          <a:xfrm>
            <a:off x="6035040" y="2468880"/>
            <a:ext cx="2651760" cy="2194560"/>
          </a:xfrm>
          <a:prstGeom prst="homePlat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26479" y="26060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Transformation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9" y="320040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dbt tests · Soda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79" y="39319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cost: 10×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23959" y="2468880"/>
            <a:ext cx="2651760" cy="219456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915399" y="26060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Serving / 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399" y="320040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dashboards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399" y="39319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cost: 100×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29200"/>
            <a:ext cx="11247120" cy="73152"/>
          </a:xfrm>
          <a:prstGeom prst="rect">
            <a:avLst/>
          </a:prstGeom>
          <a:solidFill>
            <a:srgbClr val="6C7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57200" y="51663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52B788"/>
                </a:solidFill>
                <a:latin typeface="Calibri"/>
              </a:rPr>
              <a:t>cheap to fix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51663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>
                <a:solidFill>
                  <a:srgbClr val="E63946"/>
                </a:solidFill>
                <a:latin typeface="Calibri"/>
              </a:rPr>
              <a:t>expensive to fix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76072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4332"/>
                </a:solidFill>
                <a:latin typeface="Calibri"/>
              </a:rPr>
              <a:t>Rule of thumb: every check should live at the earliest stage that can enforce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4332"/>
                </a:solidFill>
                <a:latin typeface="Calibri"/>
              </a:rPr>
              <a:t>Who owns the check?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5486400" cy="41148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5486400" cy="54864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🏗️  Producer-owned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6C757D"/>
                </a:solidFill>
                <a:latin typeface="Calibri"/>
              </a:rPr>
              <a:t>Whoever creates the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Schema (columns exist, types are right)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Business rules the source system enforces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Freshness at the source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No nulls in a NOT NULL column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828800"/>
            <a:ext cx="5486400" cy="41148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17920" y="1828800"/>
            <a:ext cx="5486400" cy="54864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🎯  Consumer-owned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5146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6C757D"/>
                </a:solidFill>
                <a:latin typeface="Calibri"/>
              </a:rPr>
              <a:t>Whoever uses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10896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Row-count anomalies in your slice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Reconciliation with your other sources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Business rules only you know about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SLAs for your specific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4332"/>
                </a:solidFill>
                <a:latin typeface="Calibri"/>
              </a:rPr>
              <a:t>The check without an owner is the check that stops running on Tuesday.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4332"/>
                </a:solidFill>
                <a:latin typeface="Calibri"/>
              </a:rPr>
              <a:t>Data contracts, in one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D3E50"/>
                </a:solidFill>
                <a:latin typeface="Calibri"/>
              </a:rPr>
              <a:t>A written promise the producer makes to every consumer.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377440"/>
            <a:ext cx="7315200" cy="38404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713232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5E8C4"/>
                </a:solidFill>
                <a:latin typeface="Consolas"/>
              </a:rPr>
              <a:t>models:
  - name: orders
    owner: payments-team
    freshness: {every: 1h}
    columns:
      - name: order_id
        tests: [unique, not_null]
      - name: region
        tests:
          - accepted_values: {values: [BE, FR, NL, DE, LU]}
      - name: price_eur
        tests:
          - dbt_utils.expression_is_true: {expression: '&gt;= 0'}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5603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B4332"/>
                </a:solidFill>
                <a:latin typeface="Calibri"/>
              </a:rPr>
              <a:t>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108960"/>
            <a:ext cx="36576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Producers know what they've promised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Consumers know what to expect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Breakages are noise, not surprises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D3E50"/>
                </a:solidFill>
                <a:latin typeface="Calibri"/>
              </a:rPr>
              <a:t>•  Checks become the contract's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017520"/>
            <a:ext cx="137160" cy="82296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28803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52B788"/>
                </a:solidFill>
                <a:latin typeface="Calibri"/>
              </a:rP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7472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The tool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E8F3EC"/>
                </a:solidFill>
                <a:latin typeface="Calibri"/>
              </a:rPr>
              <a:t>Pick one that fits your stack — then stick with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B4332"/>
                </a:solidFill>
                <a:latin typeface="Calibri"/>
              </a:rPr>
              <a:t>Five tools you'll actually meet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737360" cy="54864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371600"/>
            <a:ext cx="2743200" cy="54864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286000" y="1417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0" y="1371600"/>
            <a:ext cx="3657600" cy="54864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29200" y="14173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Sweet spot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0" y="1371600"/>
            <a:ext cx="3108960" cy="54864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0" y="1417320"/>
            <a:ext cx="2926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Watch out for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20240"/>
            <a:ext cx="1737360" cy="77724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1965960"/>
            <a:ext cx="15544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B4332"/>
                </a:solidFill>
                <a:latin typeface="Calibri"/>
              </a:rPr>
              <a:t>Soda Core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1920240"/>
            <a:ext cx="2743200" cy="77724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286000" y="196596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D3E50"/>
                </a:solidFill>
                <a:latin typeface="Calibri"/>
              </a:rPr>
              <a:t>YAML checks + CLI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0" y="1920240"/>
            <a:ext cx="3657600" cy="77724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29200" y="1965960"/>
            <a:ext cx="3474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D3E50"/>
                </a:solidFill>
                <a:latin typeface="Calibri"/>
              </a:rPr>
              <a:t>Any warehouse. Great for consultants.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1920240"/>
            <a:ext cx="3108960" cy="77724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686800" y="1965960"/>
            <a:ext cx="2926079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D3E50"/>
                </a:solidFill>
                <a:latin typeface="Calibri"/>
              </a:rPr>
              <a:t>The Cloud UI is a separate product.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17373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8640" y="2743200"/>
            <a:ext cx="15544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B4332"/>
                </a:solidFill>
                <a:latin typeface="Calibri"/>
              </a:rPr>
              <a:t>Great Expectations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2697480"/>
            <a:ext cx="274320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286000" y="274320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D3E50"/>
                </a:solidFill>
                <a:latin typeface="Calibri"/>
              </a:rPr>
              <a:t>Python expectations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7760" y="2697480"/>
            <a:ext cx="365760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29200" y="2743200"/>
            <a:ext cx="3474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D3E50"/>
                </a:solidFill>
                <a:latin typeface="Calibri"/>
              </a:rPr>
              <a:t>Rich test library, notebook-friendly.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2697480"/>
            <a:ext cx="31089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686800" y="2743200"/>
            <a:ext cx="2926079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D3E50"/>
                </a:solidFill>
                <a:latin typeface="Calibri"/>
              </a:rPr>
              <a:t>Heavy for a one-file scan.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74720"/>
            <a:ext cx="1737360" cy="77724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48640" y="3520439"/>
            <a:ext cx="15544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B4332"/>
                </a:solidFill>
                <a:latin typeface="Calibri"/>
              </a:rPr>
              <a:t>dbt tests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3474720"/>
            <a:ext cx="2743200" cy="77724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286000" y="3520439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D3E50"/>
                </a:solidFill>
                <a:latin typeface="Calibri"/>
              </a:rPr>
              <a:t>SQL/YAML inside dbt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0" y="3474720"/>
            <a:ext cx="3657600" cy="77724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029200" y="3520439"/>
            <a:ext cx="3474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D3E50"/>
                </a:solidFill>
                <a:latin typeface="Calibri"/>
              </a:rPr>
              <a:t>You're already using dbt for 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95360" y="3474720"/>
            <a:ext cx="3108960" cy="77724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686800" y="3520439"/>
            <a:ext cx="2926079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D3E50"/>
                </a:solidFill>
                <a:latin typeface="Calibri"/>
              </a:rPr>
              <a:t>Only tests what dbt models.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251960"/>
            <a:ext cx="17373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48640" y="4297680"/>
            <a:ext cx="15544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B4332"/>
                </a:solidFill>
                <a:latin typeface="Calibri"/>
              </a:rPr>
              <a:t>Elementary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94560" y="4251960"/>
            <a:ext cx="274320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2286000" y="429768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D3E50"/>
                </a:solidFill>
                <a:latin typeface="Calibri"/>
              </a:rPr>
              <a:t>Open-source dbt observability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37760" y="4251960"/>
            <a:ext cx="365760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029200" y="4297680"/>
            <a:ext cx="3474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D3E50"/>
                </a:solidFill>
                <a:latin typeface="Calibri"/>
              </a:rPr>
              <a:t>Anomaly detection + Slack alerts.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95360" y="4251960"/>
            <a:ext cx="31089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686800" y="4297680"/>
            <a:ext cx="2926079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D3E50"/>
                </a:solidFill>
                <a:latin typeface="Calibri"/>
              </a:rPr>
              <a:t>Tied to dbt.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029200"/>
            <a:ext cx="1737360" cy="77724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548640" y="5074920"/>
            <a:ext cx="15544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B4332"/>
                </a:solidFill>
                <a:latin typeface="Calibri"/>
              </a:rPr>
              <a:t>Monte Carlo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194560" y="5029200"/>
            <a:ext cx="2743200" cy="77724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286000" y="507492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D3E50"/>
                </a:solidFill>
                <a:latin typeface="Calibri"/>
              </a:rPr>
              <a:t>Commercial data observability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37760" y="5029200"/>
            <a:ext cx="3657600" cy="77724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029200" y="5074920"/>
            <a:ext cx="3474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D3E50"/>
                </a:solidFill>
                <a:latin typeface="Calibri"/>
              </a:rPr>
              <a:t>End-to-end, lineage-aware, $$$.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95360" y="5029200"/>
            <a:ext cx="3108960" cy="77724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686800" y="5074920"/>
            <a:ext cx="2926079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D3E50"/>
                </a:solidFill>
                <a:latin typeface="Calibri"/>
              </a:rPr>
              <a:t>Enterprise pricing.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C757D"/>
                </a:solidFill>
                <a:latin typeface="Calibri"/>
              </a:rPr>
              <a:t>Today we use Soda Core: no cloud creds, one YAML file, and it plays well with the DE tooling you already know.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017520"/>
            <a:ext cx="137160" cy="82296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28803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52B788"/>
                </a:solidFill>
                <a:latin typeface="Calibri"/>
              </a:rPr>
              <a:t>SECTION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7472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Hands-on with Soda 🛠️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E8F3EC"/>
                </a:solidFill>
                <a:latin typeface="Calibri"/>
              </a:rPr>
              <a:t>50 minutes. 3 exercises. A dirty avocado dataset.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4332"/>
                </a:solidFill>
                <a:latin typeface="Calibri"/>
              </a:rPr>
              <a:t>Setup — 5 minutes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D3E50"/>
                </a:solidFill>
                <a:latin typeface="Calibri"/>
              </a:rPr>
              <a:t>Everyone runs this. If it works for you, help your neighbor.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11247120" cy="347472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109728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5E8C4"/>
                </a:solidFill>
                <a:latin typeface="Consolas"/>
              </a:rPr>
              <a:t>git clone https://github.com/eyaakrimi/rootsacademy-2026-data-quality.git
cd rootsacademy-2026-data-quality
# Choose one:
uv sync                       # ← fastest
# or
python -m venv .venv &amp;&amp; source .venv/bin/activate &amp;&amp; pip install -e .
# Generate the dirty dataset
python data/generate_dirty_data.py
# First scan — should show 1 PASS, 4 FAIL
soda scan -d avocados -c soda/configuration.yml soda/checks_starter.yml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solidFill>
            <a:srgbClr val="E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B4332"/>
                </a:solidFill>
                <a:latin typeface="Calibri"/>
              </a:rPr>
              <a:t>🆘  If anything explodes: raise your hand, we'll debug together. There's a fallback zip on the repo.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2B788"/>
                </a:solidFill>
                <a:latin typeface="Calibri"/>
              </a:rPr>
              <a:t>06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B4332"/>
                </a:solidFill>
                <a:latin typeface="Calibri"/>
              </a:rPr>
              <a:t>Exercise 1  ·  Your first scan  (10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D3E50"/>
                </a:solidFill>
                <a:latin typeface="Calibri"/>
              </a:rPr>
              <a:t>Goal: understand the Soda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73152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2D3E50"/>
                </a:solidFill>
                <a:latin typeface="Calibri"/>
              </a:rPr>
              <a:t>•  Run: soda scan -d avocados -c soda/configuration.yml soda/checks_starter.yml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2D3E50"/>
                </a:solidFill>
                <a:latin typeface="Calibri"/>
              </a:rPr>
              <a:t>•  Read: 1 PASS, 4 FAIL. For each fail: which DQ dimension?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2D3E50"/>
                </a:solidFill>
                <a:latin typeface="Calibri"/>
              </a:rPr>
              <a:t>•  Match each fail to the row(s) causing it (SELECT queries help)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2D3E50"/>
                </a:solidFill>
                <a:latin typeface="Calibri"/>
              </a:rPr>
              <a:t>•  Discuss with your neighbor: which check would you add next?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2377440"/>
            <a:ext cx="3657600" cy="32004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229600" y="2377440"/>
            <a:ext cx="3657600" cy="45720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412480" y="2377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See it in the repo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01752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D3E50"/>
                </a:solidFill>
                <a:latin typeface="Consolas"/>
              </a:rPr>
              <a:t>exercises/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38328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2D3E50"/>
                </a:solidFill>
                <a:latin typeface="Consolas"/>
              </a:rPr>
              <a:t>•  01_first_scan.md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D3E50"/>
                </a:solidFill>
                <a:latin typeface="Consolas"/>
              </a:rPr>
              <a:t>•  soda/checks_starter.yml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2B788"/>
                </a:solidFill>
                <a:latin typeface="Calibri"/>
              </a:rPr>
              <a:t>06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B4332"/>
                </a:solidFill>
                <a:latin typeface="Calibri"/>
              </a:rPr>
              <a:t>Exercise 2  ·  Write your own checks  (15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D3E50"/>
                </a:solidFill>
                <a:latin typeface="Calibri"/>
              </a:rPr>
              <a:t>Goal: get comfortable with the SodaCL vocabulary.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Create soda/checks_yourname.yml and add three checks: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2D3E50"/>
                </a:solidFill>
                <a:latin typeface="Calibri"/>
              </a:rPr>
              <a:t>•  One completeness check on a column that isn't 'region'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2D3E50"/>
                </a:solidFill>
                <a:latin typeface="Calibri"/>
              </a:rPr>
              <a:t>•  One uniqueness check on a combination of columns (hint: duplicate_count takes a list)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2D3E50"/>
                </a:solidFill>
                <a:latin typeface="Calibri"/>
              </a:rPr>
              <a:t>•  One 'failed rows' check with a custom SQL condition — your own business rule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029200"/>
            <a:ext cx="11247120" cy="128016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5074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B4332"/>
                </a:solidFill>
                <a:latin typeface="Calibri"/>
              </a:rPr>
              <a:t>Bonus if fast: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94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D3E50"/>
                </a:solidFill>
                <a:latin typeface="Calibri"/>
              </a:rPr>
              <a:t>Run soda scan on soda/checks_extended.yml too — it introduces schema checks, 
valid values, and range checks. Copy the patterns you like into your own file.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2B788"/>
                </a:solidFill>
                <a:latin typeface="Calibri"/>
              </a:rPr>
              <a:t>06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B4332"/>
                </a:solidFill>
                <a:latin typeface="Calibri"/>
              </a:rPr>
              <a:t>Exercise 3  ·  Break it on purpose  (15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D3E50"/>
                </a:solidFill>
                <a:latin typeface="Calibri"/>
              </a:rPr>
              <a:t>Goal: build the on-call reflex.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Scenario: Monday 8am. Slack blew up. Your pipeline shipped something bad.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2D3E50"/>
                </a:solidFill>
                <a:latin typeface="Calibri"/>
              </a:rPr>
              <a:t>•  Inject one of three incidents into a copy of the clean table (Python one-liner)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2D3E50"/>
                </a:solidFill>
                <a:latin typeface="Calibri"/>
              </a:rPr>
              <a:t>•  Write a checks file that would have caught it — then flip incidents and re-scan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2D3E50"/>
                </a:solidFill>
                <a:latin typeface="Calibri"/>
              </a:rPr>
              <a:t>•  Discuss with your neighbor: which stage of the pipeline should each check live at?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303520"/>
            <a:ext cx="11247120" cy="1097280"/>
          </a:xfrm>
          <a:prstGeom prst="rect">
            <a:avLst/>
          </a:prstGeom>
          <a:solidFill>
            <a:srgbClr val="E8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5394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B4332"/>
                </a:solidFill>
                <a:latin typeface="Calibri"/>
              </a:rPr>
              <a:t>The real question: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D3E50"/>
                </a:solidFill>
                <a:latin typeface="Calibri"/>
              </a:rPr>
              <a:t>Should a failed DQ check block the pipeline (fail loud), or just alert (fail open)? 
Make a case for each — and know which one your team defaults 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017520"/>
            <a:ext cx="137160" cy="82296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28803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52B788"/>
                </a:solidFill>
                <a:latin typeface="Calibri"/>
              </a:rPr>
              <a:t>SECTION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7472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E8F3EC"/>
                </a:solidFill>
                <a:latin typeface="Calibri"/>
              </a:rPr>
              <a:t>Three takeaways and one thing to do on Monday.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4332"/>
                </a:solidFill>
                <a:latin typeface="Calibri"/>
              </a:rPr>
              <a:t>If you remember three things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280160" cy="12801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280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1">
                <a:solidFill>
                  <a:srgbClr val="52B788"/>
                </a:solidFill>
                <a:latin typeface="Calibri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1783080" y="1828800"/>
            <a:ext cx="9921240" cy="128016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965960" y="196596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B4332"/>
                </a:solidFill>
                <a:latin typeface="Calibri"/>
              </a:rPr>
              <a:t>DQ is measurable.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42316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D3E50"/>
                </a:solidFill>
                <a:latin typeface="Calibri"/>
              </a:rPr>
              <a:t>The six dimensions give you a checklist. Use them to argue with people — and yourself — about which checks actually matter.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280160" cy="12801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7200" y="3291840"/>
            <a:ext cx="1280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1">
                <a:solidFill>
                  <a:srgbClr val="52B788"/>
                </a:solidFill>
                <a:latin typeface="Calibri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83080" y="3291840"/>
            <a:ext cx="9921240" cy="128016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965960" y="342900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B4332"/>
                </a:solidFill>
                <a:latin typeface="Calibri"/>
              </a:rPr>
              <a:t>The earlier, the cheaper.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388620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D3E50"/>
                </a:solidFill>
                <a:latin typeface="Calibri"/>
              </a:rPr>
              <a:t>A check at the source costs 1 unit. The same failure caught on the dashboard costs 100. Shift left whenever you can.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754880"/>
            <a:ext cx="1280160" cy="12801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7200" y="4754880"/>
            <a:ext cx="1280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1">
                <a:solidFill>
                  <a:srgbClr val="52B788"/>
                </a:solidFill>
                <a:latin typeface="Calibri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83080" y="4754880"/>
            <a:ext cx="9921240" cy="128016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965960" y="4892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B4332"/>
                </a:solidFill>
                <a:latin typeface="Calibri"/>
              </a:rPr>
              <a:t>A check needs an owner.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34924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D3E50"/>
                </a:solidFill>
                <a:latin typeface="Calibri"/>
              </a:rPr>
              <a:t>A check without an owner is a check that stops running. Write it in code, version it, alert on it, and put a name on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4332"/>
                </a:solidFill>
                <a:latin typeface="Calibri"/>
              </a:rPr>
              <a:t>Adopt this on Monday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2D3E50"/>
                </a:solidFill>
                <a:latin typeface="Calibri"/>
              </a:rPr>
              <a:t>Pick ONE table on your current project — the one that hurts the most — and: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560320"/>
            <a:ext cx="32004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Profile it (ydata-profiling, dbt-profiler, or plain SQL — 30 min)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54680"/>
            <a:ext cx="32004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Write 5 Soda checks: one per dimension you care about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749039"/>
            <a:ext cx="32004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97280" y="36576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Run them locally, fix or catalog every failure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343400"/>
            <a:ext cx="32004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97280" y="4251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Wire the scan into CI (there's a workflow in the repo)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37760"/>
            <a:ext cx="32004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97280" y="4846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Add the check owner in the YAML — your name or a team's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532120"/>
            <a:ext cx="32004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1B4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97280" y="54406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2D3E50"/>
                </a:solidFill>
                <a:latin typeface="Calibri"/>
              </a:rPr>
              <a:t>Tell one person about what broke. Then repeat next week on the next table.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4332"/>
                </a:solidFill>
                <a:latin typeface="Calibri"/>
              </a:rPr>
              <a:t>Where to go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0" cy="4572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3657600" cy="41148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45720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2D3E50"/>
                </a:solidFill>
                <a:latin typeface="Calibri"/>
              </a:rPr>
              <a:t>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68880"/>
            <a:ext cx="33832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D3E50"/>
                </a:solidFill>
                <a:latin typeface="Calibri"/>
              </a:rPr>
              <a:t>•  SodaCL reference — docs.soda.io/soda-cl/soda-cl-overview.html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2D3E50"/>
                </a:solidFill>
                <a:latin typeface="Calibri"/>
              </a:rPr>
              <a:t>•  Great Expectations docs — docs.greatexpectations.io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2D3E50"/>
                </a:solidFill>
                <a:latin typeface="Calibri"/>
              </a:rPr>
              <a:t>•  'The Six Dimensions of Data Quality' — Collibra blog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2D3E50"/>
                </a:solidFill>
                <a:latin typeface="Calibri"/>
              </a:rPr>
              <a:t>•  Data Mesh (Zhamak Dehghani) — for the ownership chapter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828800"/>
            <a:ext cx="3657600" cy="41148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297680" y="1828800"/>
            <a:ext cx="3657600" cy="45720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434840" y="1828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2D3E50"/>
                </a:solidFill>
                <a:latin typeface="Calibri"/>
              </a:rPr>
              <a:t>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18288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Watch / listen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468880"/>
            <a:ext cx="33832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D3E50"/>
                </a:solidFill>
                <a:latin typeface="Calibri"/>
              </a:rPr>
              <a:t>•  'Data Quality at Airbnb' — Data Engineering Podcast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2D3E50"/>
                </a:solidFill>
                <a:latin typeface="Calibri"/>
              </a:rPr>
              <a:t>•  Barr Moses talks on data observability (YouTube)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828800"/>
            <a:ext cx="3657600" cy="41148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138160" y="1828800"/>
            <a:ext cx="3657600" cy="457200"/>
          </a:xfrm>
          <a:prstGeom prst="rect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75320" y="1828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2D3E50"/>
                </a:solidFill>
                <a:latin typeface="Calibri"/>
              </a:rPr>
              <a:t>🛠️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18288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468880"/>
            <a:ext cx="33832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D3E50"/>
                </a:solidFill>
                <a:latin typeface="Calibri"/>
              </a:rPr>
              <a:t>•  This repo, but against a real dataset from your assignment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2D3E50"/>
                </a:solidFill>
                <a:latin typeface="Calibri"/>
              </a:rPr>
              <a:t>•  dbt tests + Elementary if you're already on dbt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2D3E50"/>
                </a:solidFill>
                <a:latin typeface="Calibri"/>
              </a:rPr>
              <a:t>•  OpenMetadata's data quality module — ask me about the RVA-ONEM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Roots Academy 2026 · Data Quality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0" b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E8F3EC"/>
                </a:solidFill>
                <a:latin typeface="Calibri"/>
              </a:rPr>
              <a:t>eya.akrimi@dataroots.io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52B788"/>
                </a:solidFill>
                <a:latin typeface="Calibri"/>
              </a:rPr>
              <a:t>github.com/eyaakrimi/rootsacademy-2026-data-quality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0" b="1">
                <a:solidFill>
                  <a:srgbClr val="1B4332"/>
                </a:solidFill>
                <a:latin typeface="Calibri"/>
              </a:rPr>
              <a:t>Thank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>
                <a:solidFill>
                  <a:srgbClr val="2D3E50"/>
                </a:solidFill>
                <a:latin typeface="Calibri"/>
              </a:rPr>
              <a:t>Go make bad data everyone else's problem.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C757D"/>
                </a:solidFill>
                <a:latin typeface="Calibri"/>
              </a:rPr>
              <a:t>Built on the shoulders of the 2023 GX and 2024 DQ sessions. 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